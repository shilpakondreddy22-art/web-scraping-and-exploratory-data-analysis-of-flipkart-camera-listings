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0" r:id="rId3"/>
    <p:sldId id="261" r:id="rId4"/>
    <p:sldId id="281" r:id="rId5"/>
    <p:sldId id="263" r:id="rId6"/>
    <p:sldId id="265" r:id="rId7"/>
    <p:sldId id="264" r:id="rId8"/>
    <p:sldId id="266" r:id="rId9"/>
    <p:sldId id="282" r:id="rId10"/>
    <p:sldId id="299" r:id="rId11"/>
    <p:sldId id="267" r:id="rId12"/>
    <p:sldId id="283" r:id="rId13"/>
    <p:sldId id="285" r:id="rId14"/>
    <p:sldId id="286" r:id="rId15"/>
    <p:sldId id="287" r:id="rId16"/>
    <p:sldId id="288" r:id="rId17"/>
    <p:sldId id="289" r:id="rId18"/>
    <p:sldId id="290" r:id="rId19"/>
    <p:sldId id="276" r:id="rId20"/>
    <p:sldId id="297" r:id="rId21"/>
    <p:sldId id="298" r:id="rId22"/>
    <p:sldId id="259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6EB6A7C-910C-4AD3-AC9C-BC272DB11AD2}">
          <p14:sldIdLst>
            <p14:sldId id="256"/>
            <p14:sldId id="280"/>
            <p14:sldId id="261"/>
            <p14:sldId id="281"/>
            <p14:sldId id="263"/>
            <p14:sldId id="265"/>
            <p14:sldId id="264"/>
            <p14:sldId id="266"/>
            <p14:sldId id="282"/>
            <p14:sldId id="299"/>
            <p14:sldId id="267"/>
            <p14:sldId id="283"/>
            <p14:sldId id="285"/>
            <p14:sldId id="286"/>
            <p14:sldId id="287"/>
            <p14:sldId id="288"/>
            <p14:sldId id="289"/>
            <p14:sldId id="290"/>
            <p14:sldId id="276"/>
            <p14:sldId id="297"/>
            <p14:sldId id="29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3374" autoAdjust="0"/>
  </p:normalViewPr>
  <p:slideViewPr>
    <p:cSldViewPr snapToGrid="0">
      <p:cViewPr varScale="1">
        <p:scale>
          <a:sx n="77" d="100"/>
          <a:sy n="77" d="100"/>
        </p:scale>
        <p:origin x="95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lpakondreddy22-art" TargetMode="External"/><Relationship Id="rId2" Type="http://schemas.openxmlformats.org/officeDocument/2006/relationships/hyperlink" Target="http://www.linkedin.com/in/shilpa-kondreddy-9aab43280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-560439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104644" y="4860435"/>
            <a:ext cx="9291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Web Scraping and Exploratory Data Analysis of Flipkart Camera Listings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AB45FB-BDE9-5F83-D846-4EF2C4EC6F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665" b="22527"/>
          <a:stretch>
            <a:fillRect/>
          </a:stretch>
        </p:blipFill>
        <p:spPr>
          <a:xfrm>
            <a:off x="3808323" y="2906034"/>
            <a:ext cx="4953839" cy="1223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BCD2-097C-AB08-F476-BFB1E15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34" y="241238"/>
            <a:ext cx="10515600" cy="99172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2A749-6D4D-68BF-7D83-9A1E95CC8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56527"/>
            <a:ext cx="10515600" cy="3799509"/>
          </a:xfrm>
        </p:spPr>
        <p:txBody>
          <a:bodyPr>
            <a:normAutofit fontScale="85000" lnSpcReduction="10000"/>
          </a:bodyPr>
          <a:lstStyle/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Shilpa Kondreddy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graduate passionate about Data Analytics and Visualization.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passionate about turning raw, unstructured data into meaningful insights that tell stories.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areas of interest include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(web scraping), data cleaning, analysis, and visualization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Python tools like Pandas, Matplotlib, and Seaborn.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constantly explore real-world datasets to sharpen my analytical thinking and problem-solving skills.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www.linkedin.com/in/shilpa-kondreddy-9aab43280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https://github.com/shilpakondreddy22-art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2653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622998"/>
            <a:ext cx="10498393" cy="73682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126775C-5C00-BBA6-4E63-6EED540068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2901" y="1359827"/>
            <a:ext cx="1039103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Flipkart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one of India’s largest e-commerce platforms, offering a wide range of electronics, including cameras from brands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Canon, Nikon, Sony, and Fujifilm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extracting real-time camera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(product name, price, rating, and reviews) directly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Flipkart’s website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Python-based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techniques.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scraped data was then cleaned, structured, and analyzed to perform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identify key market trends.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 focused on understanding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variations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 popularity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levels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camera models.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such as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used to build the data pipeline and create meaningful visual insights.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unstructured online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be transformed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Python and data analytics skills.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bridges the gap between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business understanding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showcasing how analytical thinking can support decision-making for both buyers and sellers in the e-commerce industry.</a:t>
            </a:r>
          </a:p>
        </p:txBody>
      </p:sp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9">
            <a:extLst>
              <a:ext uri="{FF2B5EF4-FFF2-40B4-BE49-F238E27FC236}">
                <a16:creationId xmlns:a16="http://schemas.microsoft.com/office/drawing/2014/main" id="{BE7BF51A-6E18-09AB-3CBF-1519739BFF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5018" y="1690688"/>
            <a:ext cx="1003761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Camera product data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Flipkart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unstructured and scattered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multiple web pages, making manual analysis difficult.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face challenges comparing cameras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price, ratings, and reviews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due to lack of consolidated insights.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Brands and sellers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struggle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benchmark pricing and popularity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against competitors in the online marketplace.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strong need for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approach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collect, clean, and analyze camera data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insights and decision-making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430018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E286A-B439-A981-0498-5FBB8AF7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5181" y="1507059"/>
            <a:ext cx="9721645" cy="3383505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real-time camera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(name, brand, price, rating, and reviews) from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Flipkart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Python-based web scraping.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organize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scraped data into a structured format suitable for analysis.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visualize patterns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price, brand performance, and customer satisfaction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actionable insights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help buyers make informed decisions and assist sellers in understanding market trends.</a:t>
            </a:r>
          </a:p>
          <a:p>
            <a:pPr marL="11430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41" y="425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C51-E6DE-FD43-74F8-6AC7547F18CD}"/>
              </a:ext>
            </a:extLst>
          </p:cNvPr>
          <p:cNvSpPr txBox="1"/>
          <p:nvPr/>
        </p:nvSpPr>
        <p:spPr>
          <a:xfrm>
            <a:off x="983534" y="1294960"/>
            <a:ext cx="5187191" cy="5422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Flipkart’s Camera section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selected as the main data source for extracting product information.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developer tools (Inspect Element)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locate relevant HTML tags containing camera names, prices, ratings, and reviews.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libraries in Python to extract structured data from multiple web pages.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HTTP requests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retrieve product details across several listing pages efficiently.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Cleaned, merged, and stored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scraped data in a Pandas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further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visualization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A81845-750F-AFE9-3F94-6714F25FD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725" y="174073"/>
            <a:ext cx="5037741" cy="3374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F174C7-A6EC-129D-E130-0F6FEC1AE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629" y="3429000"/>
            <a:ext cx="5037741" cy="288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53" y="435917"/>
            <a:ext cx="3008179" cy="8238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326" y="1517596"/>
            <a:ext cx="3930769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14" y="4568005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063874"/>
            <a:ext cx="40195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777" y="1381892"/>
            <a:ext cx="32670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595" y="471088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6" y="3109858"/>
            <a:ext cx="37052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036" y="249722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15DCCC-4D7B-11A3-E7AE-A55D7E9A484F}"/>
              </a:ext>
            </a:extLst>
          </p:cNvPr>
          <p:cNvSpPr txBox="1"/>
          <p:nvPr/>
        </p:nvSpPr>
        <p:spPr>
          <a:xfrm>
            <a:off x="796859" y="973394"/>
            <a:ext cx="625378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unwanted characters and symbols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(₹, commas, brackets) from price and rating columns for accurate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and reformatted brand and product names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consistent entries across the dataset.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price and rating fields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strings to numeric data types to enable mathematical and statistical operations.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or null values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fields like ratings or reviews using placeholders such as 'Unknown' or default values.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Eliminated duplicates and harmonized column formats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a clean, structured dataset ready for visualization and trend analysis.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B2354D-F1A8-CDDD-BA40-E00397CA6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642" y="506896"/>
            <a:ext cx="4557321" cy="27507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CF901D-1854-F5F5-3DEC-D99245FBA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279" y="3257637"/>
            <a:ext cx="4557321" cy="312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b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9B3D8-24F0-BFDD-F8CA-E6AACD40E032}"/>
              </a:ext>
            </a:extLst>
          </p:cNvPr>
          <p:cNvSpPr txBox="1"/>
          <p:nvPr/>
        </p:nvSpPr>
        <p:spPr>
          <a:xfrm>
            <a:off x="696798" y="1088272"/>
            <a:ext cx="501194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cameras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Flipkart have ratings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 and 3.8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that most customers are generally satisfied with their purchases.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is slightly right-skewed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that while many cameras receive above-average ratings, only a few achieve extremely high ratings (above 4.0)..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smaller number of cameras fall below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 rating mark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representing products that customers found less satisfactory or had performance issues.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of the histogram lies around 3.5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that most cameras perform consistently well in terms of quality and value for money.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C45765-1D48-5EF3-BD0D-2E0E4B03A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488" y="626164"/>
            <a:ext cx="6321286" cy="523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FDEB75-C346-33DD-3FC9-6013CEE3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9C0964-C21D-19DB-7B70-AB8759818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1600"/>
            <a:ext cx="5582478" cy="4805363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rating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most brands lies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 and 3.8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that customer satisfaction levels are fairly consistent across camera brands.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Canon and Sony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exhibit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median ratings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fewer outliers, indicating stable quality and stronger user trust.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Nikon and Fujifilm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slightly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wider interquartile ranges (IQR)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more variation in customer experiences within these brands.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presence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lower outliers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highlights isolated cases of customer dissatisfaction, possibly linked to specific low-performing models.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4739E7-F3D5-7443-F71F-85F492EF3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826" y="747338"/>
            <a:ext cx="5267739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77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21342-FF3B-A195-33FF-DA36CFC36F5B}"/>
              </a:ext>
            </a:extLst>
          </p:cNvPr>
          <p:cNvSpPr txBox="1"/>
          <p:nvPr/>
        </p:nvSpPr>
        <p:spPr>
          <a:xfrm>
            <a:off x="734250" y="1310213"/>
            <a:ext cx="51913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violin’s widest section between 3.0 and 3.8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that most cameras fall in this rating range, indicating consistent user satisfaction across brands.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 upper and lower tails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 fewer cameras with extremely low or high ratings, meaning customer opinions are generally moderate.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balanced shape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reflects a stable and competitive camera market on Flipkart, with minimal variation in product quality and user experience.</a:t>
            </a:r>
          </a:p>
        </p:txBody>
      </p:sp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791AA4-5FE2-156C-A597-FBBA9B31F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62870"/>
            <a:ext cx="5691809" cy="368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B1F-F52B-AB9B-23B5-48A7B7E1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7876-07C0-93DC-2DD7-21561A9F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7890F0-5585-BA3C-7BA1-63E4312F4CE6}"/>
              </a:ext>
            </a:extLst>
          </p:cNvPr>
          <p:cNvSpPr txBox="1"/>
          <p:nvPr/>
        </p:nvSpPr>
        <p:spPr>
          <a:xfrm>
            <a:off x="572298" y="4258976"/>
            <a:ext cx="1121613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segment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pie chart represents leading brands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Canon and Sony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their strong dominance and high availability in Flipkart’s camera listings.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Mid-sized portions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belong to brands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Nikon, Fujifilm, and Panasonic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steady market presence and consumer interest in multiple price ranges.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slices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 lesser-known or emerging brands, reflecting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listings or niche product categories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fewer customer reviews and ratings.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11F37E-C780-D743-7F55-6E507EF52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97" y="959068"/>
            <a:ext cx="10937215" cy="305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1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6B82-888C-47A4-9A93-E3BDA0BC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AAAA-6A70-A375-E36A-57C13DEB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5F5D73-9438-374C-2CD9-92C838053E30}"/>
              </a:ext>
            </a:extLst>
          </p:cNvPr>
          <p:cNvSpPr txBox="1"/>
          <p:nvPr/>
        </p:nvSpPr>
        <p:spPr>
          <a:xfrm>
            <a:off x="496957" y="4094922"/>
            <a:ext cx="1090533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Clear Correlation: The scatter plot doesn't show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correlation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rating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 Distribution: Ratings are spread across values like 1.5, 2.0, 2.5, 3.0, 3.5, and 4.0.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Range: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ranges from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to 50.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Points Distribution: Data points are densely packed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lines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 to specific ratings.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Outliers: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points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 at unique positions (e.g., rating 1.5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around 13 and 39).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C4DAD9-A9DD-B315-8D0B-BA9250787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166" y="1083364"/>
            <a:ext cx="6846089" cy="301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1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98682-D684-5CBE-45F7-312D5903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A065-3F45-1970-A334-E1F2237E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DFE87-3B98-24A9-3C1B-2A43B4D9DD06}"/>
              </a:ext>
            </a:extLst>
          </p:cNvPr>
          <p:cNvSpPr txBox="1"/>
          <p:nvPr/>
        </p:nvSpPr>
        <p:spPr>
          <a:xfrm>
            <a:off x="667108" y="1474881"/>
            <a:ext cx="532618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Rating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One product has a rating of around 4.3, which is the highest in the plot.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Variety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plot shows ratings for various products like action cameras, drones, sports cameras, and more.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Range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Ratings range approximately from 2.0 to 4.3.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Coding: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Bars are color-coded, possibly to differentiate product categories or groupings.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names are listed on the x-axis, indicating a wide range of camera-related products.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B0D81A-9CD1-93D8-D015-EE7173933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707" y="626165"/>
            <a:ext cx="5658676" cy="560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4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49E88-4526-D32F-FA99-F8D0DD335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1ECB-3EDE-E23F-4E4E-253ECB3A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21B98C-36DD-1030-763D-766FCDBA9E17}"/>
              </a:ext>
            </a:extLst>
          </p:cNvPr>
          <p:cNvSpPr txBox="1"/>
          <p:nvPr/>
        </p:nvSpPr>
        <p:spPr>
          <a:xfrm>
            <a:off x="667109" y="1474881"/>
            <a:ext cx="526220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has a perfect correlation (1.00) with itself.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 perfect correlation (1.00) with itself.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There's no correlation (0.00) between rating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correlation between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rating is also 0.00.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heatmap suggests rating 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independent variables.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CBFE1D-9AB7-F430-59A9-59E7AB141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69357"/>
            <a:ext cx="5595579" cy="467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0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5667-5F7A-A4C2-EFC8-E3586195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E140-5F98-DE88-FD81-3C52AFAAC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1016832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b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3DA78F-BD5C-9EC8-C098-C05D7761A9C3}"/>
              </a:ext>
            </a:extLst>
          </p:cNvPr>
          <p:cNvSpPr txBox="1"/>
          <p:nvPr/>
        </p:nvSpPr>
        <p:spPr>
          <a:xfrm>
            <a:off x="667108" y="1474881"/>
            <a:ext cx="542889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Distribution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density plot (top left) shows a multimodal distribution of ratings with peaks around 2, 3, and a higher peak near 4.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vs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scatter plot (bottom left) indicates that most observations have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30-50 for ratings 2, 3, and 4.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density plot (bottom right) shows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somewhat uniformly distributed between ~20-40, tapering off towards 0 and 60.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204042-EC22-1649-3D12-9B0C8C925B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5"/>
          <a:stretch>
            <a:fillRect/>
          </a:stretch>
        </p:blipFill>
        <p:spPr>
          <a:xfrm>
            <a:off x="6712225" y="1078688"/>
            <a:ext cx="4572396" cy="445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8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6375-873F-A5A0-AEE6-0EE96A9B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6D57-B54C-227A-553D-FBD81EC08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69F69-AE06-2596-25E3-9599EFAFCE0B}"/>
              </a:ext>
            </a:extLst>
          </p:cNvPr>
          <p:cNvSpPr txBox="1"/>
          <p:nvPr/>
        </p:nvSpPr>
        <p:spPr>
          <a:xfrm>
            <a:off x="581383" y="1328456"/>
            <a:ext cx="587656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compares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product ratings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their corresponding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numbers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multiple camera categories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Wide, Sports, Drone, and 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(around 20)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higher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scale (0–5)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the difference in metric scales between quantity of listings and customer feedback scores.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remain consistently low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all product names, suggesting that customer satisfaction levels are moderate and fairly uniform among camera types.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bars (ratings)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bars (page numbers)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together illustrate that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visibility or listing depth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(page number) does not directly correlate with higher customer ratings</a:t>
            </a:r>
            <a:r>
              <a:rPr lang="en-US" sz="20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84E0EA-31BB-4D7F-CF7C-BBC693C51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950" y="820563"/>
            <a:ext cx="5669280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0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9818E-DAFD-9A23-AA9C-58C42077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C189-12E1-CAA7-F203-94A1E3CD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7510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b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81FF9D4-3BBB-3F61-4ED3-93EBAF69E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13183"/>
            <a:ext cx="10515600" cy="506378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correlation heat map shows the relationship between two variables: rating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correlation between rating and itself is 1 (perfect correlation).- The correlation between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itself is 1 (perfect correlation).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correlation between rating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pagenum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0.0029, indicating a very weak positive correlation between the two variables.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91C44-9759-7096-6B93-9719F084C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548" y="2909542"/>
            <a:ext cx="4840356" cy="283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13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30" y="89453"/>
            <a:ext cx="2829339" cy="854764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B7422F-A42C-D0BC-BCC8-74FDAE65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31" y="934108"/>
            <a:ext cx="10826750" cy="5730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Customer Satisfaction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cameras receive ratings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 and 4.0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overall customer satisfaction and consistent product performance across brands.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Dominance and Market Leadership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emerge as the leading brands with the highest ratings and premium pricing, maintaining strong reputation and trust among consumers.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Discounts on Sales Performance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discounts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10–20%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most common and align with better-rated products, indicating that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pricing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influences customer perception positively.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and Quality Relationship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positive relationship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price and rating suggests that higher-priced cameras tend to perform slightly better, but affordability and brand trust remain key drivers.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Market and Competitive Variety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Flipkart camera segment displays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competition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wide price ranges and diverse brands, offering customers multiple choices based on budget and feature preferences.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5FDD-9E40-B93A-E557-1D0E9B6D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0" y="24713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Experience– Web Scraping &amp; Data Analysis: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5608D9-1735-0142-AAF8-1110DAFC9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5862" y="1370547"/>
            <a:ext cx="10585174" cy="2821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Scraped camera product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Flipkart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Requests, and Pandas)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details such as brand, price, rating, discount, and availability.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standardized the dataset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handling missing values, inconsistent formats, and converting columns (e.g., price, discount) into numerical types for analysis.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visualizations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Matplotlib and Seaborn to explore brand performance, price distribution, rating patterns, and discount trends.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complete data workflow —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→ data cleaning → analysis → visualization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to derive actionable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980448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4F17-B27D-5353-8B75-94E4DF00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1" y="40642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– Web Scraping &amp; Data Analysis: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267FB5-42B6-A4AE-BB87-ACE1F8D89B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8984" y="1761709"/>
            <a:ext cx="929176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webpage structures across product categories.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or mismatched product details such as price, rating, or discount.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duplicate and unclean data from multiple product pages.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Overcoming request blocks and slow scraping speed.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most meaningful visuals to present key insights.</a:t>
            </a:r>
          </a:p>
        </p:txBody>
      </p:sp>
    </p:spTree>
    <p:extLst>
      <p:ext uri="{BB962C8B-B14F-4D97-AF65-F5344CB8AC3E}">
        <p14:creationId xmlns:p14="http://schemas.microsoft.com/office/powerpoint/2010/main" val="1709766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1,800+ Thank You Presentation Stock Photos, Pictures &amp; Royalty-Free Images  - iStock | Thank you for listening, Thank you sign, Thank you note">
            <a:extLst>
              <a:ext uri="{FF2B5EF4-FFF2-40B4-BE49-F238E27FC236}">
                <a16:creationId xmlns:a16="http://schemas.microsoft.com/office/drawing/2014/main" id="{20A35851-7728-0177-9AC4-06858B17C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345" y="692727"/>
            <a:ext cx="9975273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1233</TotalTime>
  <Words>1829</Words>
  <Application>Microsoft Office PowerPoint</Application>
  <PresentationFormat>Widescreen</PresentationFormat>
  <Paragraphs>109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Times New Roman</vt:lpstr>
      <vt:lpstr>Calibri</vt:lpstr>
      <vt:lpstr>Arial</vt:lpstr>
      <vt:lpstr>Office Theme</vt:lpstr>
      <vt:lpstr>PowerPoint Presentation</vt:lpstr>
      <vt:lpstr>About Me:</vt:lpstr>
      <vt:lpstr>Introduction:</vt:lpstr>
      <vt:lpstr>Business Problem:</vt:lpstr>
      <vt:lpstr>Objectives:</vt:lpstr>
      <vt:lpstr>Web Scraping:</vt:lpstr>
      <vt:lpstr>Tools Used:</vt:lpstr>
      <vt:lpstr>Data Cleaning Steps:</vt:lpstr>
      <vt:lpstr>Data Visualization Univariate Analysis:</vt:lpstr>
      <vt:lpstr>Data Visualization</vt:lpstr>
      <vt:lpstr>Data Visualization:</vt:lpstr>
      <vt:lpstr>Data Visualization:</vt:lpstr>
      <vt:lpstr>Data Visualization: Bivariate Analysis</vt:lpstr>
      <vt:lpstr>Data Visualization:</vt:lpstr>
      <vt:lpstr>Data Visualization:</vt:lpstr>
      <vt:lpstr>Data Visualization: Multivariate Analysis</vt:lpstr>
      <vt:lpstr>Data Visualization:</vt:lpstr>
      <vt:lpstr>Data Visualization: </vt:lpstr>
      <vt:lpstr>Conclusion:</vt:lpstr>
      <vt:lpstr>Experience– Web Scraping &amp; Data Analysis:</vt:lpstr>
      <vt:lpstr>Challenges – Web Scraping &amp; Data Analysis: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shilpa kondreddy</cp:lastModifiedBy>
  <cp:revision>40</cp:revision>
  <dcterms:created xsi:type="dcterms:W3CDTF">2021-02-16T05:19:01Z</dcterms:created>
  <dcterms:modified xsi:type="dcterms:W3CDTF">2025-11-08T06:46:47Z</dcterms:modified>
</cp:coreProperties>
</file>